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6CC"/>
                </a:solidFill>
              </a:defRPr>
            </a:pPr>
            <a:r>
              <a:t>AI-POWERED FOOD QUALITY INDICES AND DIETARY GUIDANCE</a:t>
            </a:r>
          </a:p>
          <a:p>
            <a:pPr algn="l">
              <a:defRPr sz="2400">
                <a:solidFill>
                  <a:srgbClr val="666666"/>
                </a:solidFill>
              </a:defRPr>
            </a:pPr>
            <a:r>
              <a:t>B.Tech Project 4 - Semester 7</a:t>
            </a:r>
          </a:p>
          <a:p>
            <a:pPr algn="l">
              <a:defRPr sz="1800">
                <a:solidFill>
                  <a:srgbClr val="333333"/>
                </a:solidFill>
              </a:defRPr>
            </a:pPr>
            <a:r>
              <a:t>Department of Computer Science &amp; Engineering</a:t>
            </a:r>
          </a:p>
          <a:p>
            <a:pPr algn="l">
              <a:defRPr sz="1800">
                <a:solidFill>
                  <a:srgbClr val="333333"/>
                </a:solidFill>
              </a:defRPr>
            </a:pPr>
            <a:r>
              <a:t>Academic Year: 2025-2026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8000"/>
                </a:solidFill>
              </a:defRPr>
            </a:pPr>
            <a:r>
              <a:t>Mentor: Mr. Dipan Bandyopadhyay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Statement: Why Track Inositol?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 b="1"/>
            </a:pPr>
            <a:r>
              <a:t>Background: Inositol as a Biochemical Degradation Biomarker</a:t>
            </a:r>
          </a:p>
          <a:p>
            <a:pPr>
              <a:defRPr sz="1800"/>
            </a:pPr>
            <a:r>
              <a:t>• Inositol is a naturally occurring carbohydrate in the vitamin B-complex group</a:t>
            </a:r>
          </a:p>
          <a:p>
            <a:pPr>
              <a:defRPr sz="1800"/>
            </a:pPr>
            <a:r>
              <a:t>• Serves as a critical indicator of food freshness, ripeness, and spoilage</a:t>
            </a:r>
          </a:p>
          <a:p>
            <a:pPr>
              <a:defRPr sz="1800"/>
            </a:pPr>
            <a:r>
              <a:t>• Depletion correlates with enzymatic activity, microbial metabolism, and oxidative stress</a:t>
            </a:r>
          </a:p>
          <a:p>
            <a:pPr>
              <a:defRPr sz="2000" b="1"/>
            </a:pPr>
            <a:r>
              <a:t>Research Alignment with Mentor's Work</a:t>
            </a:r>
          </a:p>
          <a:p>
            <a:pPr>
              <a:defRPr sz="1800"/>
            </a:pPr>
            <a:r>
              <a:t>• Development of electrochemical sensors for food quality assessment</a:t>
            </a:r>
          </a:p>
          <a:p>
            <a:pPr>
              <a:defRPr sz="1800"/>
            </a:pPr>
            <a:r>
              <a:t>• Correlation of sensor signals with biochemical markers</a:t>
            </a:r>
          </a:p>
          <a:p>
            <a:pPr>
              <a:defRPr sz="1800"/>
            </a:pPr>
            <a:r>
              <a:t>• Non-destructive quality assessment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Results: Inositol Quantitation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 (mg/100g)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Lit. Min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Lit. Max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Cucumber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18,362.64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850.86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19,682.96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1,535.08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17,920.79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2,502.21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20,013.81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Spinach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17,328.77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1,215.85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Tomato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21,363.24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20,811.51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Samples Analyzed: 16 across 7 food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Model: Calibration &amp; Quantitation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Linear Calibration Model: Y = mX + c</a:t>
            </a:r>
          </a:p>
          <a:p>
            <a:pPr>
              <a:defRPr sz="1800" b="1"/>
            </a:pPr>
            <a:r>
              <a:t>Where:</a:t>
            </a:r>
          </a:p>
          <a:p>
            <a:pPr>
              <a:defRPr sz="1600"/>
            </a:pPr>
            <a:r>
              <a:t>• Y = Sensor output signal (mV)</a:t>
            </a:r>
          </a:p>
          <a:p>
            <a:pPr>
              <a:defRPr sz="1600"/>
            </a:pPr>
            <a:r>
              <a:t>• X = Inositol concentration (mg/100g fresh weight)</a:t>
            </a:r>
          </a:p>
          <a:p>
            <a:pPr>
              <a:defRPr sz="1600"/>
            </a:pPr>
            <a:r>
              <a:t>• m = Sensitivity slope = 0.0035 mV per mg/100g</a:t>
            </a:r>
          </a:p>
          <a:p>
            <a:pPr>
              <a:defRPr sz="1600"/>
            </a:pPr>
            <a:r>
              <a:t>• c = Blank baseline intercept = 0.1200 mV</a:t>
            </a:r>
          </a:p>
          <a:p>
            <a:pPr>
              <a:defRPr sz="2000" b="1"/>
            </a:pPr>
            <a:r>
              <a:t>Inverse Solve for Concentration:</a:t>
            </a:r>
          </a:p>
          <a:p>
            <a:pPr>
              <a:defRPr sz="1800">
                <a:solidFill>
                  <a:srgbClr val="0066CC"/>
                </a:solidFill>
              </a:defRPr>
            </a:pPr>
            <a:r>
              <a:t>X = (Y - c) / m = (Y - 0.1200) / 0.0035</a:t>
            </a:r>
          </a:p>
          <a:p>
            <a:pPr>
              <a:defRPr sz="1600"/>
            </a:pPr>
            <a:r>
              <a:t>Example: For Y = 70 mV, X = (70 - 0.12) / 0.0035 = 19,966 mg/100g</a:t>
            </a:r>
          </a:p>
          <a:p>
            <a:pPr>
              <a:defRPr sz="1800" b="1"/>
            </a:pPr>
            <a:r>
              <a:t>Sensor Signal from Visual Features:</a:t>
            </a:r>
          </a:p>
          <a:p>
            <a:pPr>
              <a:defRPr sz="1600"/>
            </a:pPr>
            <a:r>
              <a:t>Signal = 0.4 × V + 0.35 × b* + 0.25 × (1 - S)</a:t>
            </a:r>
          </a:p>
          <a:p>
            <a:pPr>
              <a:defRPr sz="1400"/>
            </a:pPr>
            <a:r>
              <a:t>V = Value (brightness), b* = CIE L*a*b* yellow-blue, S = Saturation</a:t>
            </a:r>
          </a:p>
        </p:txBody>
      </p:sp>
      <p:pic>
        <p:nvPicPr>
          <p:cNvPr id="4" name="Picture 3" descr="calibrati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292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 Architecture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 b="1"/>
            </a:pPr>
            <a:r>
              <a:t>Current Pipeline Components:</a:t>
            </a:r>
          </a:p>
          <a:p>
            <a:pPr>
              <a:defRPr sz="1800"/>
            </a:pPr>
            <a:r>
              <a:t>✓ HEIC/JPG image loading with pillow-heif</a:t>
            </a:r>
          </a:p>
          <a:p>
            <a:pPr>
              <a:defRPr sz="1800"/>
            </a:pPr>
            <a:r>
              <a:t>✓ Otsu thresholding for background separation</a:t>
            </a:r>
          </a:p>
          <a:p>
            <a:pPr>
              <a:defRPr sz="1800"/>
            </a:pPr>
            <a:r>
              <a:t>✓ RGB/HSV/CIE L*a*b* color feature extraction</a:t>
            </a:r>
          </a:p>
          <a:p>
            <a:pPr>
              <a:defRPr sz="1800"/>
            </a:pPr>
            <a:r>
              <a:t>✓ Linear calibration model (Y = mX + c)</a:t>
            </a:r>
          </a:p>
          <a:p>
            <a:pPr>
              <a:defRPr sz="1800"/>
            </a:pPr>
            <a:r>
              <a:t>✓ High-resolution calibration visualization</a:t>
            </a:r>
          </a:p>
          <a:p>
            <a:pPr lvl="1">
              <a:defRPr sz="2000" b="1"/>
            </a:pPr>
            <a:r>
              <a:t>Short-Term Enhancements:</a:t>
            </a:r>
          </a:p>
          <a:p>
            <a:pPr lvl="1">
              <a:defRPr sz="1800"/>
            </a:pPr>
            <a:r>
              <a:t>• Real sensor integration with hardware calibration</a:t>
            </a:r>
          </a:p>
          <a:p>
            <a:pPr lvl="1">
              <a:defRPr sz="1800"/>
            </a:pPr>
            <a:r>
              <a:t>• Deep learning-based segmentation (U-Net, Mask R-CNN)</a:t>
            </a:r>
          </a:p>
          <a:p>
            <a:pPr lvl="1">
              <a:defRPr sz="1800"/>
            </a:pPr>
            <a:r>
              <a:t>• Multi-spectral imaging extension</a:t>
            </a:r>
          </a:p>
          <a:p>
            <a:pPr lvl="1">
              <a:defRPr sz="2000" b="1"/>
            </a:pPr>
            <a:r>
              <a:t>Long-Term Roadmap:</a:t>
            </a:r>
          </a:p>
          <a:p>
            <a:pPr lvl="1">
              <a:defRPr sz="1800"/>
            </a:pPr>
            <a:r>
              <a:t>📱 Mobile App: Real-time field quality assessment</a:t>
            </a:r>
          </a:p>
          <a:p>
            <a:pPr lvl="1">
              <a:defRPr sz="1800"/>
            </a:pPr>
            <a:r>
              <a:t>🔗 Blockchain: Immutable quality records for supply chain</a:t>
            </a:r>
          </a:p>
          <a:p>
            <a:pPr lvl="1">
              <a:defRPr sz="1800"/>
            </a:pPr>
            <a:r>
              <a:t>🤖 AI Dietary Guidance: Personalized nutrition recommendations</a:t>
            </a:r>
          </a:p>
          <a:p>
            <a:pPr lvl="1">
              <a:defRPr sz="1800"/>
            </a:pPr>
            <a:r>
              <a:t>🏭 Industrial Scale: Conveyor belt imaging for sorting</a:t>
            </a:r>
          </a:p>
          <a:p>
            <a:pPr lvl="1">
              <a:defRPr sz="2000" b="1"/>
            </a:pPr>
            <a:r>
              <a:t>Repository Structure:</a:t>
            </a:r>
          </a:p>
          <a:p>
            <a:pPr lvl="1">
              <a:defRPr sz="1800"/>
            </a:pPr>
            <a:r>
              <a:t>dataset/ - Input images | scripts/ - Pipeline code</a:t>
            </a:r>
          </a:p>
          <a:p>
            <a:pPr lvl="1">
              <a:defRPr sz="1800"/>
            </a:pPr>
            <a:r>
              <a:t>output/ - CSV results | plots/ - Visualizations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5486400" cy="457200"/>
          </a:xfrm>
          <a:prstGeom prst="rect">
            <a:avLst/>
          </a:prstGeom>
          <a:solidFill>
            <a:srgbClr val="C8E6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